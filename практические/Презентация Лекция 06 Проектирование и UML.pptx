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4A3B8"/>
                </a:solidFill>
                <a:latin typeface="Segoe UI"/>
              </a:rPr>
              <a:t>МДК.02.01 · ТЕХНОЛОГИЯ РАЗРАБОТКИ ПРОГРАММНОГО ОБЕСПЕЧЕНИЯ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8335" y="1051560"/>
            <a:ext cx="356616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</a:pPr>
            <a:r>
              <a:rPr sz="24000" b="1" i="0">
                <a:solidFill>
                  <a:srgbClr val="134E4A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7955279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Проектирование, архитектура ПО и UML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2DD4BF"/>
                </a:solidFill>
                <a:latin typeface="Segoe UI"/>
              </a:rPr>
              <a:t>Лекция 6 из 8 · 2 часа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447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Специальность 09.02.07 «Информационные системы и программирование» · 3 курс · 2 часа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План лекции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19656"/>
            <a:ext cx="45870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1F2937"/>
                </a:solidFill>
                <a:latin typeface="Segoe UI"/>
              </a:rPr>
              <a:t>Общее и детальное проектирование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54096"/>
            <a:ext cx="45870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1F2937"/>
                </a:solidFill>
                <a:latin typeface="Segoe UI"/>
              </a:rPr>
              <a:t>Архитектурные стили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5196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88536"/>
            <a:ext cx="45870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1F2937"/>
                </a:solidFill>
                <a:latin typeface="Segoe UI"/>
              </a:rPr>
              <a:t>Связность, зацепление, SOLID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78308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3127" y="1819656"/>
            <a:ext cx="45870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1F2937"/>
                </a:solidFill>
                <a:latin typeface="Segoe UI"/>
              </a:rPr>
              <a:t>Паттерны проектирования, MVC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301752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3127" y="3054096"/>
            <a:ext cx="45870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1F2937"/>
                </a:solidFill>
                <a:latin typeface="Segoe UI"/>
              </a:rPr>
              <a:t>Проектирование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425196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F766E"/>
                </a:solidFill>
                <a:latin typeface="Segoe U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3127" y="4288536"/>
            <a:ext cx="458708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0" i="0">
                <a:solidFill>
                  <a:srgbClr val="1F2937"/>
                </a:solidFill>
                <a:latin typeface="Segoe UI"/>
              </a:rPr>
              <a:t>UML: основные диаграммы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Общее и детальное проектирование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531860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Общее (архитектура)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531860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Компоненты системы и ответственность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Способы взаимодействия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Технологический стек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Ограничения и ключевые риски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691640"/>
            <a:ext cx="531860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Детальное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240280"/>
            <a:ext cx="531860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Структура классов и модулей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Интерфейсы и алгоритмы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Схема БД: таблицы и связи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Форматы данных и протоколы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Слоистая архитектура (n-tier)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115E59"/>
                </a:solidFill>
                <a:latin typeface="Segoe UI"/>
              </a:rPr>
              <a:t>Слой представления</a:t>
            </a:r>
          </a:p>
        </p:txBody>
      </p:sp>
      <p:sp>
        <p:nvSpPr>
          <p:cNvPr id="5" name="Down Arrow 4"/>
          <p:cNvSpPr/>
          <p:nvPr/>
        </p:nvSpPr>
        <p:spPr>
          <a:xfrm>
            <a:off x="4014216" y="2478024"/>
            <a:ext cx="292608" cy="18288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874519"/>
            <a:ext cx="3779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UI: формы, страницы, мобильный клиент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115E59"/>
                </a:solidFill>
                <a:latin typeface="Segoe UI"/>
              </a:rPr>
              <a:t>Слой бизнес-логики</a:t>
            </a:r>
          </a:p>
        </p:txBody>
      </p:sp>
      <p:sp>
        <p:nvSpPr>
          <p:cNvPr id="8" name="Down Arrow 7"/>
          <p:cNvSpPr/>
          <p:nvPr/>
        </p:nvSpPr>
        <p:spPr>
          <a:xfrm>
            <a:off x="4014216" y="3392424"/>
            <a:ext cx="292608" cy="18288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788920"/>
            <a:ext cx="3779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правила предметной области, расчёты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1188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115E59"/>
                </a:solidFill>
                <a:latin typeface="Segoe UI"/>
              </a:rPr>
              <a:t>Слой доступа к данным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014216" y="4306824"/>
            <a:ext cx="292608" cy="18288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703320"/>
            <a:ext cx="3779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DAO / ORM, SQL-запросы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26280"/>
            <a:ext cx="6766560" cy="65836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База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617720"/>
            <a:ext cx="3779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хранение, целостность, транзакции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57784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1">
                <a:solidFill>
                  <a:srgbClr val="64748B"/>
                </a:solidFill>
                <a:latin typeface="Segoe UI"/>
              </a:rPr>
              <a:t>Правило: слой общается только со «своим» соседом; зависимости направлены вниз.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Монолит и микросервисы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531860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Монолит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531860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Одно приложение, один деплой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Просто разрабатывать и отлаживать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Масштабируется целиком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Подходит малым и средним проектам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691640"/>
            <a:ext cx="531860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Микросервисы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240280"/>
            <a:ext cx="531860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Много независимых сервисов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Независимое развёртывание и масштабирование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Сложнее: сети, согласованность данных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Оправданы при больших нагрузках и командах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Связность, зацепление и SOLID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702533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F2937"/>
                </a:solidFill>
                <a:latin typeface="Segoe UI"/>
              </a:rPr>
              <a:t>High cohesion —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модуль делает одно «дело» и делает его хорошо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F2937"/>
                </a:solidFill>
                <a:latin typeface="Segoe UI"/>
              </a:rPr>
              <a:t>Low coupling —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модули минимально зависят друг от друга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Меняем модуль — не ломаем соседей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Это главные критерии «хорошей архитектуры»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94015" y="1691640"/>
            <a:ext cx="3794760" cy="4114800"/>
          </a:xfrm>
          <a:prstGeom prst="roundRect">
            <a:avLst>
              <a:gd name="adj" fmla="val 55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0047" y="1911095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115E59"/>
                </a:solidFill>
                <a:latin typeface="Segoe UI"/>
              </a:rPr>
              <a:t>SOLID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0047" y="2489246"/>
            <a:ext cx="3282696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F2937"/>
                </a:solidFill>
                <a:latin typeface="Segoe UI"/>
              </a:rPr>
              <a:t>S — единственная ответственность; O — открытость расширению; L — подстановка наследника; I — узкие интерфейсы; D — зависимость от абстракций.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Паттерн MVC и паттерны GoF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5E59"/>
                </a:solidFill>
                <a:latin typeface="Segoe UI"/>
              </a:rPr>
              <a:t>Модель</a:t>
            </a:r>
          </a:p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данные и правила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71255" y="1828800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5E59"/>
                </a:solidFill>
                <a:latin typeface="Segoe UI"/>
              </a:rPr>
              <a:t>Представление</a:t>
            </a:r>
          </a:p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интерфейс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87087" y="3977639"/>
            <a:ext cx="3017520" cy="96012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Контроллер</a:t>
            </a:r>
          </a:p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F0FDFA"/>
                </a:solidFill>
                <a:latin typeface="Segoe UI"/>
              </a:rPr>
              <a:t>принимает ввод</a:t>
            </a:r>
          </a:p>
        </p:txBody>
      </p:sp>
      <p:sp>
        <p:nvSpPr>
          <p:cNvPr id="7" name="Left-Right Arrow 6"/>
          <p:cNvSpPr/>
          <p:nvPr/>
        </p:nvSpPr>
        <p:spPr>
          <a:xfrm>
            <a:off x="4541367" y="2121408"/>
            <a:ext cx="3108960" cy="365760"/>
          </a:xfrm>
          <a:prstGeom prst="left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1367" y="14813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обновляет · выводит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788920"/>
            <a:ext cx="2941167" cy="1188719"/>
          </a:xfrm>
          <a:prstGeom prst="line">
            <a:avLst/>
          </a:prstGeom>
          <a:ln w="127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055967" y="2788920"/>
            <a:ext cx="2941168" cy="1188719"/>
          </a:xfrm>
          <a:prstGeom prst="line">
            <a:avLst/>
          </a:prstGeom>
          <a:ln w="1270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32918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выбирает модель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9815" y="32918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передаёт в вид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86400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Примеры GoF: Singleton — один экземпляр; Factory Method — создание объектов; Observer — подписка на события; Strategy — взаимозаменяемое поведение.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Проектирование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702533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F2937"/>
                </a:solidFill>
                <a:latin typeface="Segoe UI"/>
              </a:rPr>
              <a:t>ER-модель —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сущности, атрибуты, связи (1:1, 1:N, M:N)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Первичный и внешние ключи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F2937"/>
                </a:solidFill>
                <a:latin typeface="Segoe UI"/>
              </a:rPr>
              <a:t>1НФ —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атомарные значения полей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F2937"/>
                </a:solidFill>
                <a:latin typeface="Segoe UI"/>
              </a:rPr>
              <a:t>2НФ —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каждое поле зависит от всего ключа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1" i="0">
                <a:solidFill>
                  <a:srgbClr val="1F2937"/>
                </a:solidFill>
                <a:latin typeface="Segoe UI"/>
              </a:rPr>
              <a:t>3НФ —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нет зависимостей от неключевых атрибутов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94015" y="1691640"/>
            <a:ext cx="3794760" cy="4114800"/>
          </a:xfrm>
          <a:prstGeom prst="roundRect">
            <a:avLst>
              <a:gd name="adj" fmla="val 55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0047" y="1911095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115E59"/>
                </a:solidFill>
                <a:latin typeface="Segoe UI"/>
              </a:rPr>
              <a:t>Практика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0047" y="2489246"/>
            <a:ext cx="3282696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F2937"/>
                </a:solidFill>
                <a:latin typeface="Segoe UI"/>
              </a:rPr>
              <a:t>Для учебного проекта достаточно 3НФ; избыточность сознательно вводят ради скорости отчётов.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UML: виды диаграмм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531860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Структура (статика)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531860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Классов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классы и связи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Компонентов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модули системы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Развёртывания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узлы и серверы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691640"/>
            <a:ext cx="531860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Поведение (динамика)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240280"/>
            <a:ext cx="5318607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Вариантов использования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функции глазами пользователя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Деятельности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алгоритмы и процессы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115E59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F2937"/>
                </a:solidFill>
                <a:latin typeface="Segoe UI"/>
              </a:rPr>
              <a:t>Последовательности — </a:t>
            </a:r>
            <a:r>
              <a:rPr sz="1450" b="0" i="0">
                <a:solidFill>
                  <a:srgbClr val="1F2937"/>
                </a:solidFill>
                <a:latin typeface="Segoe UI"/>
              </a:rPr>
              <a:t>обмен сообщениями во времени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Use case и диаграмма деятельности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702533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Акторы связаны линиями с «овалами» функций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include / extend — общие и необязательные сценарии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Activity: старт → действия → ветвления (ромбы) → финиш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Дорожки (swimlanes) показывают, кто выполняет действие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94015" y="1691640"/>
            <a:ext cx="3794760" cy="4114800"/>
          </a:xfrm>
          <a:prstGeom prst="roundRect">
            <a:avLst>
              <a:gd name="adj" fmla="val 55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0047" y="1911095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115E59"/>
                </a:solidFill>
                <a:latin typeface="Segoe UI"/>
              </a:rPr>
              <a:t>Для ПР5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0047" y="2489246"/>
            <a:ext cx="3282696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F2937"/>
                </a:solidFill>
                <a:latin typeface="Segoe UI"/>
              </a:rPr>
              <a:t>Диаграммы use case и activity строятся в draw.io; экспорт — PNG в отчёт.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Диаграмма классов: пример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737360"/>
            <a:ext cx="320040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Заказ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2121408"/>
            <a:ext cx="3200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– id: int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– дата: date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– статус: str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– сумма: decimal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3264408"/>
            <a:ext cx="3200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+ пересчитать()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+ изменитьСтатус()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2377440" cy="3657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Клиент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23774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– имя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– телефон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651760"/>
            <a:ext cx="1371600" cy="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37560" y="23317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 .. 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37015" y="1965960"/>
            <a:ext cx="2651760" cy="36576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ПозицияЗаказа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37015" y="2331720"/>
            <a:ext cx="26517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– товар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F2937"/>
                </a:solidFill>
                <a:latin typeface="Segoe UI"/>
              </a:rPr>
              <a:t>– количество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0960" y="2651760"/>
            <a:ext cx="1356055" cy="0"/>
          </a:xfrm>
          <a:prstGeom prst="line">
            <a:avLst/>
          </a:prstGeom>
          <a:ln w="15875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09560" y="23317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агрегация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12080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937"/>
                </a:solidFill>
                <a:latin typeface="Segoe UI"/>
              </a:rPr>
              <a:t>Легенда: линия — ассоциация; стрелка с пустым треугольником — наследование; ромб — агрегация.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Диаграмма последовательности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702533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Участники — вертикальные линии жизни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Сообщения — горизонтальные стрелки, время идёт вниз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Активации — периоды работы объекта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Хороша для одного сценария «от начала до конца»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94015" y="1691640"/>
            <a:ext cx="3794760" cy="4114800"/>
          </a:xfrm>
          <a:prstGeom prst="roundRect">
            <a:avLst>
              <a:gd name="adj" fmla="val 55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0047" y="1911095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 i="0">
                <a:solidFill>
                  <a:srgbClr val="115E59"/>
                </a:solidFill>
                <a:latin typeface="Segoe UI"/>
              </a:rPr>
              <a:t>Инструменты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0047" y="2489246"/>
            <a:ext cx="3282696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1F2937"/>
                </a:solidFill>
                <a:latin typeface="Segoe UI"/>
              </a:rPr>
              <a:t>draw.io, PlantUML (текст → диаграмма), StarUML, Enterprise Architect.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8585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15E59"/>
                </a:solidFill>
                <a:latin typeface="Segoe UI"/>
              </a:rPr>
              <a:t>Архитектура — это решения, которые трудно изменить. UML — язык, на котором их записывают.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Хорошая архитектура = высокая связность + низкое зацепление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Паттерны — готовые ответы на повторяющиеся задачи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550" b="1" i="0">
                <a:solidFill>
                  <a:srgbClr val="0F766E"/>
                </a:solidFill>
                <a:latin typeface="Segoe UI"/>
              </a:rPr>
              <a:t>▪  </a:t>
            </a:r>
            <a:r>
              <a:rPr sz="1550" b="0" i="0">
                <a:solidFill>
                  <a:srgbClr val="1F2937"/>
                </a:solidFill>
                <a:latin typeface="Segoe UI"/>
              </a:rPr>
              <a:t>В ПР5 вы построите 4 диаграммы для своего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64748B"/>
                </a:solidFill>
                <a:latin typeface="Segoe UI"/>
              </a:rPr>
              <a:t>ЛЕКЦИЯ 6 · ПРОЕКТИРОВАНИЕ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585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15E59"/>
                </a:solidFill>
                <a:latin typeface="Segoe UI"/>
              </a:rPr>
              <a:t>Вопросы для самопроверки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55648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Чем общее проектирование отличается от детального?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7063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Опишите слоистую архитектуру и её правило зависимостей.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039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822191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Когда монолит уместнее микросервисов?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37175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55463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Что такое связность и зацепление?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704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888736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Расшифруйте SOLID (любые три буквы).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1737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1755648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Для чего нужен паттерн MVC?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77063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788920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Какие виды диаграмм есть в UML?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8039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822191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Какие элементы содержит диаграмма классов?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837175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4855463"/>
            <a:ext cx="476996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Segoe UI"/>
              </a:rPr>
              <a:t>Что показывает диаграмма последовательности?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Технология разработки ПО · Лекция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94A3B8"/>
                </a:solidFill>
                <a:latin typeface="Segoe UI"/>
              </a:rPr>
              <a:t>ЛИТЕРАТУРА И РЕСУРСЫ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7223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E2E8F0"/>
                </a:solidFill>
                <a:latin typeface="Segoe UI"/>
              </a:rPr>
              <a:t>Соммервилл И. Инженерия программного обеспечения — гл. 5–6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01367"/>
            <a:ext cx="7223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E2E8F0"/>
                </a:solidFill>
                <a:latin typeface="Segoe UI"/>
              </a:rPr>
              <a:t>Прессман Р. Программное обеспечение: практика разработки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51175"/>
            <a:ext cx="7223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DD4BF"/>
                </a:solidFill>
                <a:latin typeface="Segoe UI"/>
              </a:rPr>
              <a:t>▪  </a:t>
            </a:r>
            <a:r>
              <a:rPr sz="1450" b="0" i="0">
                <a:solidFill>
                  <a:srgbClr val="E2E8F0"/>
                </a:solidFill>
                <a:latin typeface="Segoe UI"/>
              </a:rPr>
              <a:t>Рудаков А.В. Технология разработки программных продуктов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37744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5200" b="1" i="0">
                <a:solidFill>
                  <a:srgbClr val="FFFFFF"/>
                </a:solidFill>
                <a:latin typeface="Segoe UI"/>
              </a:rPr>
              <a:t>Вопросы?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МДК.02.01 · Лекция 6 из 8 · Проектирование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