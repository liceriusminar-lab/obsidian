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94A3B8"/>
                </a:solidFill>
                <a:latin typeface="Segoe UI"/>
              </a:rPr>
              <a:t>МДК.02.01 · ТЕХНОЛОГИЯ РАЗРАБОТКИ ПРОГРАММНОГО ОБЕСПЕЧЕНИЯ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68335" y="1051560"/>
            <a:ext cx="3566160" cy="420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</a:pPr>
            <a:r>
              <a:rPr sz="24000" b="1" i="0">
                <a:solidFill>
                  <a:srgbClr val="134E4A"/>
                </a:solidFill>
                <a:latin typeface="Segoe U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7955279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Введение в технологию разработки программного обеспечения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2DD4BF"/>
                </a:solidFill>
                <a:latin typeface="Segoe UI"/>
              </a:rPr>
              <a:t>Лекция 1 из 8 · 2 часа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447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Специальность 09.02.07 «Информационные системы и программирование» · 3 курс · 2 часа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64748B"/>
                </a:solidFill>
                <a:latin typeface="Segoe UI"/>
              </a:rPr>
              <a:t>ЛЕКЦИЯ 1 · 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15E59"/>
                </a:solidFill>
                <a:latin typeface="Segoe UI"/>
              </a:rPr>
              <a:t>План лекции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F766E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19656"/>
            <a:ext cx="458708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0" i="0">
                <a:solidFill>
                  <a:srgbClr val="1F2937"/>
                </a:solidFill>
                <a:latin typeface="Segoe UI"/>
              </a:rPr>
              <a:t>ПО как продукт и его качество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1752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F766E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54096"/>
            <a:ext cx="458708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0" i="0">
                <a:solidFill>
                  <a:srgbClr val="1F2937"/>
                </a:solidFill>
                <a:latin typeface="Segoe UI"/>
              </a:rPr>
              <a:t>Классификация программного обеспечения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25196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F766E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88536"/>
            <a:ext cx="458708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0" i="0">
                <a:solidFill>
                  <a:srgbClr val="1F2937"/>
                </a:solidFill>
                <a:latin typeface="Segoe UI"/>
              </a:rPr>
              <a:t>История: от кризиса ПО к инженерии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178308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F766E"/>
                </a:solidFill>
                <a:latin typeface="Segoe UI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3127" y="1819656"/>
            <a:ext cx="458708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0" i="0">
                <a:solidFill>
                  <a:srgbClr val="1F2937"/>
                </a:solidFill>
                <a:latin typeface="Segoe UI"/>
              </a:rPr>
              <a:t>Технология разработки: процесс, методы, инструменты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301752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F766E"/>
                </a:solidFill>
                <a:latin typeface="Segoe UI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3127" y="3054096"/>
            <a:ext cx="458708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0" i="0">
                <a:solidFill>
                  <a:srgbClr val="1F2937"/>
                </a:solidFill>
                <a:latin typeface="Segoe UI"/>
              </a:rPr>
              <a:t>Этапы разработки и роли команды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425196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F766E"/>
                </a:solidFill>
                <a:latin typeface="Segoe UI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3127" y="4288536"/>
            <a:ext cx="458708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0" i="0">
                <a:solidFill>
                  <a:srgbClr val="1F2937"/>
                </a:solidFill>
                <a:latin typeface="Segoe UI"/>
              </a:rPr>
              <a:t>Стандарты и сквозной проект курса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МДК.02.01 · Технология разработки ПО · Лекция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64748B"/>
                </a:solidFill>
                <a:latin typeface="Segoe UI"/>
              </a:rPr>
              <a:t>ЛЕКЦИЯ 1 · 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15E59"/>
                </a:solidFill>
                <a:latin typeface="Segoe UI"/>
              </a:rPr>
              <a:t>Программа — не программный продукт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7025335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Программа — работающий код, решающий задачу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1" i="0">
                <a:solidFill>
                  <a:srgbClr val="1F2937"/>
                </a:solidFill>
                <a:latin typeface="Segoe UI"/>
              </a:rPr>
              <a:t>Продукт =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код + данные + документация + сопровождение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ПО эксплуатируют и развивают годами, а не «сдают и забыли»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Пользователь видит поведение и интерфейс, а не исходники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Ошибка в коде — дефект; ошибка в замысле — провал продукта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94015" y="1691640"/>
            <a:ext cx="3794760" cy="4114800"/>
          </a:xfrm>
          <a:prstGeom prst="roundRect">
            <a:avLst>
              <a:gd name="adj" fmla="val 55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50047" y="1911095"/>
            <a:ext cx="32826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 i="0">
                <a:solidFill>
                  <a:srgbClr val="115E59"/>
                </a:solidFill>
                <a:latin typeface="Segoe UI"/>
              </a:rPr>
              <a:t>Определение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0047" y="2489246"/>
            <a:ext cx="3282696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F2937"/>
                </a:solidFill>
                <a:latin typeface="Segoe UI"/>
              </a:rPr>
              <a:t>Программное обеспечение — совокупность программ, данных и документации, созданная для решения задач пользователей на компьютерах.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МДК.02.01 · Технология разработки ПО · Лекция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64748B"/>
                </a:solidFill>
                <a:latin typeface="Segoe UI"/>
              </a:rPr>
              <a:t>ЛЕКЦИЯ 1 · 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15E59"/>
                </a:solidFill>
                <a:latin typeface="Segoe UI"/>
              </a:rPr>
              <a:t>Качество ПО: ГОСТ Р ИСО/МЭК 25010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91640"/>
          <a:ext cx="11183112" cy="2944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7891272"/>
              </a:tblGrid>
              <a:tr h="384048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Характеристика</a:t>
                      </a:r>
                    </a:p>
                  </a:txBody>
                  <a:tcPr marL="91440" marR="91440" marT="36576" marB="36576">
                    <a:solidFill>
                      <a:srgbClr val="0F766E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Что означает</a:t>
                      </a:r>
                    </a:p>
                  </a:txBody>
                  <a:tcPr marL="91440" marR="91440" marT="36576" marB="36576">
                    <a:solidFill>
                      <a:srgbClr val="0F766E"/>
                    </a:solidFill>
                  </a:tcPr>
                </a:tc>
              </a:tr>
              <a:tr h="36576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Segoe UI"/>
                        </a:rPr>
                        <a:t>Функциональная пригодность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Segoe UI"/>
                        </a:rPr>
                        <a:t>Решает задачи пользователя полностью и точно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Segoe UI"/>
                        </a:rPr>
                        <a:t>Эффективность</a:t>
                      </a:r>
                    </a:p>
                  </a:txBody>
                  <a:tcPr marL="91440" marR="9144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Segoe UI"/>
                        </a:rPr>
                        <a:t>Оптимально использует ресурсы и время отклика</a:t>
                      </a:r>
                    </a:p>
                  </a:txBody>
                  <a:tcPr marL="91440" marR="91440" marT="27432" marB="27432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Segoe UI"/>
                        </a:rPr>
                        <a:t>Удобство использования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Segoe UI"/>
                        </a:rPr>
                        <a:t>Понятен, изучаем, приятен в работе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Segoe UI"/>
                        </a:rPr>
                        <a:t>Надёжность</a:t>
                      </a:r>
                    </a:p>
                  </a:txBody>
                  <a:tcPr marL="91440" marR="9144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Segoe UI"/>
                        </a:rPr>
                        <a:t>Стабильно работает при сбоях и нагрузке</a:t>
                      </a:r>
                    </a:p>
                  </a:txBody>
                  <a:tcPr marL="91440" marR="91440" marT="27432" marB="27432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Segoe UI"/>
                        </a:rPr>
                        <a:t>Защищённость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Segoe UI"/>
                        </a:rPr>
                        <a:t>Не допускает несанкционированный доступ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Segoe UI"/>
                        </a:rPr>
                        <a:t>Сопровождаемость</a:t>
                      </a:r>
                    </a:p>
                  </a:txBody>
                  <a:tcPr marL="91440" marR="9144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Segoe UI"/>
                        </a:rPr>
                        <a:t>Легко изменять, отлаживать, расширять</a:t>
                      </a:r>
                    </a:p>
                  </a:txBody>
                  <a:tcPr marL="91440" marR="91440" marT="27432" marB="27432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Segoe UI"/>
                        </a:rPr>
                        <a:t>Переносимость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ctr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Segoe UI"/>
                        </a:rPr>
                        <a:t>Работает в разных средах и на разных ОС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МДК.02.01 · Технология разработки ПО · Лекция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64748B"/>
                </a:solidFill>
                <a:latin typeface="Segoe UI"/>
              </a:rPr>
              <a:t>ЛЕКЦИЯ 1 · 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15E59"/>
                </a:solidFill>
                <a:latin typeface="Segoe UI"/>
              </a:rPr>
              <a:t>Классификация ПО по назначению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3545738" cy="2926080"/>
          </a:xfrm>
          <a:prstGeom prst="roundRect">
            <a:avLst>
              <a:gd name="adj" fmla="val 55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911095"/>
            <a:ext cx="303367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15E59"/>
                </a:solidFill>
                <a:latin typeface="Segoe UI"/>
              </a:rPr>
              <a:t>Системное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478855"/>
            <a:ext cx="3033674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1F2937"/>
                </a:solidFill>
                <a:latin typeface="Segoe UI"/>
              </a:rPr>
              <a:t>ОС, драйверы, утилиты. Управляет оборудованием и создаёт среду для других программ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691640"/>
            <a:ext cx="3545738" cy="2926080"/>
          </a:xfrm>
          <a:prstGeom prst="roundRect">
            <a:avLst>
              <a:gd name="adj" fmla="val 55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9010" y="1911095"/>
            <a:ext cx="303367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15E59"/>
                </a:solidFill>
                <a:latin typeface="Segoe UI"/>
              </a:rPr>
              <a:t>Прикладное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9010" y="2478855"/>
            <a:ext cx="3033674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1F2937"/>
                </a:solidFill>
                <a:latin typeface="Segoe UI"/>
              </a:rPr>
              <a:t>Браузеры, редакторы, информационные системы. Решает задачи пользователя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691640"/>
            <a:ext cx="3545738" cy="2926080"/>
          </a:xfrm>
          <a:prstGeom prst="roundRect">
            <a:avLst>
              <a:gd name="adj" fmla="val 55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9068" y="1911095"/>
            <a:ext cx="303367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15E59"/>
                </a:solidFill>
                <a:latin typeface="Segoe UI"/>
              </a:rPr>
              <a:t>Инструментальное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9068" y="2478855"/>
            <a:ext cx="3033674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1F2937"/>
                </a:solidFill>
                <a:latin typeface="Segoe UI"/>
              </a:rPr>
              <a:t>IDE, компиляторы, Git. Служит для создания другого ПО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МДК.02.01 · Технология разработки ПО · Лекция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64748B"/>
                </a:solidFill>
                <a:latin typeface="Segoe UI"/>
              </a:rPr>
              <a:t>ЛЕКЦИЯ 1 · 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15E59"/>
                </a:solidFill>
                <a:latin typeface="Segoe UI"/>
              </a:rPr>
              <a:t>От кризиса ПО к инженерной дисциплине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3108960"/>
            <a:ext cx="10454335" cy="0"/>
          </a:xfrm>
          <a:prstGeom prst="line">
            <a:avLst/>
          </a:prstGeom>
          <a:ln w="254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786384" y="3026664"/>
            <a:ext cx="164592" cy="16459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2423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15E59"/>
                </a:solidFill>
                <a:latin typeface="Segoe UI"/>
              </a:rPr>
              <a:t>1950-е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3337560"/>
            <a:ext cx="19202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1F2937"/>
                </a:solidFill>
                <a:latin typeface="Segoe UI"/>
              </a:rPr>
              <a:t>Программирование = кодирование «под железо»</a:t>
            </a:r>
          </a:p>
        </p:txBody>
      </p:sp>
      <p:sp>
        <p:nvSpPr>
          <p:cNvPr id="8" name="Oval 7"/>
          <p:cNvSpPr/>
          <p:nvPr/>
        </p:nvSpPr>
        <p:spPr>
          <a:xfrm>
            <a:off x="2877251" y="3026664"/>
            <a:ext cx="164592" cy="16459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45147" y="2423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15E59"/>
                </a:solidFill>
                <a:latin typeface="Segoe UI"/>
              </a:rPr>
              <a:t>1968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9427" y="3337560"/>
            <a:ext cx="19202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1F2937"/>
                </a:solidFill>
                <a:latin typeface="Segoe UI"/>
              </a:rPr>
              <a:t>NATO: термин «software engineering», признание кризиса</a:t>
            </a:r>
          </a:p>
        </p:txBody>
      </p:sp>
      <p:sp>
        <p:nvSpPr>
          <p:cNvPr id="11" name="Oval 10"/>
          <p:cNvSpPr/>
          <p:nvPr/>
        </p:nvSpPr>
        <p:spPr>
          <a:xfrm>
            <a:off x="4968118" y="3026664"/>
            <a:ext cx="164592" cy="16459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36014" y="2423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15E59"/>
                </a:solidFill>
                <a:latin typeface="Segoe UI"/>
              </a:rPr>
              <a:t>1970-е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0294" y="3337560"/>
            <a:ext cx="19202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1F2937"/>
                </a:solidFill>
                <a:latin typeface="Segoe UI"/>
              </a:rPr>
              <a:t>Структурные методологии, каскадная модель</a:t>
            </a:r>
          </a:p>
        </p:txBody>
      </p:sp>
      <p:sp>
        <p:nvSpPr>
          <p:cNvPr id="14" name="Oval 13"/>
          <p:cNvSpPr/>
          <p:nvPr/>
        </p:nvSpPr>
        <p:spPr>
          <a:xfrm>
            <a:off x="7058985" y="3026664"/>
            <a:ext cx="164592" cy="16459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6881" y="2423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15E59"/>
                </a:solidFill>
                <a:latin typeface="Segoe UI"/>
              </a:rPr>
              <a:t>1990-е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161" y="3337560"/>
            <a:ext cx="19202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1F2937"/>
                </a:solidFill>
                <a:latin typeface="Segoe UI"/>
              </a:rPr>
              <a:t>ООП, CASE-средства, RUP, CMM</a:t>
            </a:r>
          </a:p>
        </p:txBody>
      </p:sp>
      <p:sp>
        <p:nvSpPr>
          <p:cNvPr id="17" name="Oval 16"/>
          <p:cNvSpPr/>
          <p:nvPr/>
        </p:nvSpPr>
        <p:spPr>
          <a:xfrm>
            <a:off x="9149852" y="3026664"/>
            <a:ext cx="164592" cy="16459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7748" y="2423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15E59"/>
                </a:solidFill>
                <a:latin typeface="Segoe UI"/>
              </a:rPr>
              <a:t>2001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2028" y="3337560"/>
            <a:ext cx="19202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1F2937"/>
                </a:solidFill>
                <a:latin typeface="Segoe UI"/>
              </a:rPr>
              <a:t>Agile-манифест: гибкие подходы</a:t>
            </a:r>
          </a:p>
        </p:txBody>
      </p:sp>
      <p:sp>
        <p:nvSpPr>
          <p:cNvPr id="20" name="Oval 19"/>
          <p:cNvSpPr/>
          <p:nvPr/>
        </p:nvSpPr>
        <p:spPr>
          <a:xfrm>
            <a:off x="11240719" y="3026664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71455" y="2423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15E59"/>
                </a:solidFill>
                <a:latin typeface="Segoe UI"/>
              </a:rPr>
              <a:t>Сегодня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34295" y="3337560"/>
            <a:ext cx="19202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1F2937"/>
                </a:solidFill>
                <a:latin typeface="Segoe UI"/>
              </a:rPr>
              <a:t>DevOps, CI/CD, продуктовый подход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МДК.02.01 · Технология разработки ПО · Лекция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64748B"/>
                </a:solidFill>
                <a:latin typeface="Segoe UI"/>
              </a:rPr>
              <a:t>ЛЕКЦИЯ 1 · 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15E59"/>
                </a:solidFill>
                <a:latin typeface="Segoe UI"/>
              </a:rPr>
              <a:t>Технология разработки = методология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11680"/>
            <a:ext cx="3291840" cy="160020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700" b="1" i="0">
                <a:solidFill>
                  <a:srgbClr val="115E59"/>
                </a:solidFill>
                <a:latin typeface="Segoe UI"/>
              </a:rPr>
              <a:t>Процесс</a:t>
            </a:r>
          </a:p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F2937"/>
                </a:solidFill>
                <a:latin typeface="Segoe UI"/>
              </a:rPr>
              <a:t>этапы, роли, артефакты, правила переходов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2514600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600" b="1" i="0">
                <a:solidFill>
                  <a:srgbClr val="D97706"/>
                </a:solidFill>
                <a:latin typeface="Segoe UI"/>
              </a:rPr>
              <a:t>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011680"/>
            <a:ext cx="3291840" cy="160020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700" b="1" i="0">
                <a:solidFill>
                  <a:srgbClr val="115E59"/>
                </a:solidFill>
                <a:latin typeface="Segoe UI"/>
              </a:rPr>
              <a:t>Методы</a:t>
            </a:r>
          </a:p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F2937"/>
                </a:solidFill>
                <a:latin typeface="Segoe UI"/>
              </a:rPr>
              <a:t>модели ЖЦ, паттерны, приёмы проектирования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514600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600" b="1" i="0">
                <a:solidFill>
                  <a:srgbClr val="D97706"/>
                </a:solidFill>
                <a:latin typeface="Segoe UI"/>
              </a:rPr>
              <a:t>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011680"/>
            <a:ext cx="3291840" cy="160020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700" b="1" i="0">
                <a:solidFill>
                  <a:srgbClr val="115E59"/>
                </a:solidFill>
                <a:latin typeface="Segoe UI"/>
              </a:rPr>
              <a:t>Инструменты</a:t>
            </a:r>
          </a:p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F2937"/>
                </a:solidFill>
                <a:latin typeface="Segoe UI"/>
              </a:rPr>
              <a:t>IDE, Git, трекеры, CASE-средства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69080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F2937"/>
                </a:solidFill>
                <a:latin typeface="Segoe UI"/>
              </a:rPr>
              <a:t>Методология отвечает на вопросы: ЧТО делаем, КАК и в каком порядке, ЧЕМ и КТО.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МДК.02.01 · Технология разработки ПО · Лекция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64748B"/>
                </a:solidFill>
                <a:latin typeface="Segoe UI"/>
              </a:rPr>
              <a:t>ЛЕКЦИЯ 1 · 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15E59"/>
                </a:solidFill>
                <a:latin typeface="Segoe UI"/>
              </a:rPr>
              <a:t>Основные этапы разработки ПО</a:t>
            </a:r>
          </a:p>
        </p:txBody>
      </p:sp>
      <p:sp>
        <p:nvSpPr>
          <p:cNvPr id="4" name="Pentagon 3"/>
          <p:cNvSpPr/>
          <p:nvPr/>
        </p:nvSpPr>
        <p:spPr>
          <a:xfrm>
            <a:off x="502920" y="2377440"/>
            <a:ext cx="2065477" cy="960120"/>
          </a:xfrm>
          <a:prstGeom prst="homePlat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Анализ</a:t>
            </a:r>
          </a:p>
        </p:txBody>
      </p:sp>
      <p:sp>
        <p:nvSpPr>
          <p:cNvPr id="5" name="Chevron 4"/>
          <p:cNvSpPr/>
          <p:nvPr/>
        </p:nvSpPr>
        <p:spPr>
          <a:xfrm>
            <a:off x="2367229" y="2377440"/>
            <a:ext cx="2065477" cy="960120"/>
          </a:xfrm>
          <a:prstGeom prst="chevron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Проектирование</a:t>
            </a:r>
          </a:p>
        </p:txBody>
      </p:sp>
      <p:sp>
        <p:nvSpPr>
          <p:cNvPr id="6" name="Chevron 5"/>
          <p:cNvSpPr/>
          <p:nvPr/>
        </p:nvSpPr>
        <p:spPr>
          <a:xfrm>
            <a:off x="4231538" y="2377440"/>
            <a:ext cx="2065477" cy="9601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Кодирование</a:t>
            </a:r>
          </a:p>
        </p:txBody>
      </p:sp>
      <p:sp>
        <p:nvSpPr>
          <p:cNvPr id="7" name="Chevron 6"/>
          <p:cNvSpPr/>
          <p:nvPr/>
        </p:nvSpPr>
        <p:spPr>
          <a:xfrm>
            <a:off x="6095847" y="2377440"/>
            <a:ext cx="2065477" cy="960120"/>
          </a:xfrm>
          <a:prstGeom prst="chevron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Тестирование</a:t>
            </a:r>
          </a:p>
        </p:txBody>
      </p:sp>
      <p:sp>
        <p:nvSpPr>
          <p:cNvPr id="8" name="Chevron 7"/>
          <p:cNvSpPr/>
          <p:nvPr/>
        </p:nvSpPr>
        <p:spPr>
          <a:xfrm>
            <a:off x="7960156" y="2377440"/>
            <a:ext cx="2065477" cy="9601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Внедрение</a:t>
            </a:r>
          </a:p>
        </p:txBody>
      </p:sp>
      <p:sp>
        <p:nvSpPr>
          <p:cNvPr id="9" name="Chevron 8"/>
          <p:cNvSpPr/>
          <p:nvPr/>
        </p:nvSpPr>
        <p:spPr>
          <a:xfrm>
            <a:off x="9824466" y="2377440"/>
            <a:ext cx="2065477" cy="960120"/>
          </a:xfrm>
          <a:prstGeom prst="chevron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Сопровождение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57600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937"/>
                </a:solidFill>
                <a:latin typeface="Segoe UI"/>
              </a:rPr>
              <a:t>Этапы итеративны: результаты тестирования возвращают команду к коду и проекту. Сквозной проект курса пройдёт все шесть этапов.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МДК.02.01 · Технология разработки ПО · Лекция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64748B"/>
                </a:solidFill>
                <a:latin typeface="Segoe UI"/>
              </a:rPr>
              <a:t>ЛЕКЦИЯ 1 · 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15E59"/>
                </a:solidFill>
                <a:latin typeface="Segoe UI"/>
              </a:rPr>
              <a:t>Команда разработки: кто за что отвечает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531860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Ставят и описывают задачи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40280"/>
            <a:ext cx="5318607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F2937"/>
                </a:solidFill>
                <a:latin typeface="Segoe UI"/>
              </a:rPr>
              <a:t>Заказчик —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потребность, бюджет, приёмка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F2937"/>
                </a:solidFill>
                <a:latin typeface="Segoe UI"/>
              </a:rPr>
              <a:t>Руководитель проекта —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план, сроки, риски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F2937"/>
                </a:solidFill>
                <a:latin typeface="Segoe UI"/>
              </a:rPr>
              <a:t>Аналитик —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требования, контакт с заказчиком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F2937"/>
                </a:solidFill>
                <a:latin typeface="Segoe UI"/>
              </a:rPr>
              <a:t>Архитектор —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архитектура, ключевые решения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1691640"/>
            <a:ext cx="531860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Создают и проверяют продукт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2240280"/>
            <a:ext cx="5318607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115E59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F2937"/>
                </a:solidFill>
                <a:latin typeface="Segoe UI"/>
              </a:rPr>
              <a:t>Разработчик —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код по спецификации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115E59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F2937"/>
                </a:solidFill>
                <a:latin typeface="Segoe UI"/>
              </a:rPr>
              <a:t>Тестировщик (QA) —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проверка качества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115E59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F2937"/>
                </a:solidFill>
                <a:latin typeface="Segoe UI"/>
              </a:rPr>
              <a:t>DevOps —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сборка, развёртывание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115E59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F2937"/>
                </a:solidFill>
                <a:latin typeface="Segoe UI"/>
              </a:rPr>
              <a:t>Технический писатель —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документация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МДК.02.01 · Технология разработки ПО · Лекция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64748B"/>
                </a:solidFill>
                <a:latin typeface="Segoe UI"/>
              </a:rPr>
              <a:t>ЛЕКЦИЯ 1 · 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15E59"/>
                </a:solidFill>
                <a:latin typeface="Segoe UI"/>
              </a:rPr>
              <a:t>Зачем нужны стандарты разработки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7025335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ISO/IEC/IEEE 12207 — процессы жизненного цикла ПО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ГОСТ 19 (ЕСПД) — виды программных документов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ГОСТ 34.602 — техническое задание на АС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ISO/IEC 25010 — модель качества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SemVer — семантическое версионирование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94015" y="1691640"/>
            <a:ext cx="3794760" cy="4114800"/>
          </a:xfrm>
          <a:prstGeom prst="roundRect">
            <a:avLst>
              <a:gd name="adj" fmla="val 55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50047" y="1911095"/>
            <a:ext cx="32826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 i="0">
                <a:solidFill>
                  <a:srgbClr val="115E59"/>
                </a:solidFill>
                <a:latin typeface="Segoe UI"/>
              </a:rPr>
              <a:t>Эффект стандартов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0047" y="2489246"/>
            <a:ext cx="3282696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F2937"/>
                </a:solidFill>
                <a:latin typeface="Segoe UI"/>
              </a:rPr>
              <a:t>Общий язык с заказчиком, проверяемые требования к качеству, сопоставимые документы, повторяемые процессы.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МДК.02.01 · Технология разработки ПО · Лекция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64748B"/>
                </a:solidFill>
                <a:latin typeface="Segoe UI"/>
              </a:rPr>
              <a:t>ЛЕКЦИЯ 1 · 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15E59"/>
                </a:solidFill>
                <a:latin typeface="Segoe UI"/>
              </a:rPr>
              <a:t>Дисциплина и ПМ.02: осваиваемые компетенции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185855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1F2937"/>
                </a:solidFill>
                <a:latin typeface="Segoe UI"/>
              </a:rPr>
              <a:t>ПК 2.1 —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разрабатывать объекты программного продукта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1F2937"/>
                </a:solidFill>
                <a:latin typeface="Segoe UI"/>
              </a:rPr>
              <a:t>ПК 2.2 —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разрабатывать код по готовым спецификациям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1F2937"/>
                </a:solidFill>
                <a:latin typeface="Segoe UI"/>
              </a:rPr>
              <a:t>ПК 2.3 —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составлять техническую документацию по шаблонам и стандартам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1F2937"/>
                </a:solidFill>
                <a:latin typeface="Segoe UI"/>
              </a:rPr>
              <a:t>ПК 2.4 —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конфигурировать и управлять версиями ПО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1F2937"/>
                </a:solidFill>
                <a:latin typeface="Segoe UI"/>
              </a:rPr>
              <a:t>Сквозной проект: </a:t>
            </a:r>
            <a:r>
              <a:rPr sz="1600" b="0" i="0">
                <a:solidFill>
                  <a:srgbClr val="1F2937"/>
                </a:solidFill>
                <a:latin typeface="Segoe UI"/>
              </a:rPr>
              <a:t>8 практических работ создают портфолио одного проекта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МДК.02.01 · Технология разработки ПО · Лекция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64748B"/>
                </a:solidFill>
                <a:latin typeface="Segoe UI"/>
              </a:rPr>
              <a:t>ЛЕКЦИЯ 1 · 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15E59"/>
                </a:solidFill>
                <a:latin typeface="Segoe UI"/>
              </a:rPr>
              <a:t>Вывод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1118585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15E59"/>
                </a:solidFill>
                <a:latin typeface="Segoe UI"/>
              </a:rPr>
              <a:t>Технология разработки ПО превращает «написание кода» в предсказуемое производство продукта.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0"/>
            <a:ext cx="11185855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Качество закладывается на всех этапах, а не «дорабатывается потом»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Стандарты и документация — часть продукта, а не обуза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Команда важнее героя: разработка — командная инженерия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МДК.02.01 · Технология разработки ПО · Лекция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64748B"/>
                </a:solidFill>
                <a:latin typeface="Segoe UI"/>
              </a:rPr>
              <a:t>ЛЕКЦИЯ 1 · 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15E59"/>
                </a:solidFill>
                <a:latin typeface="Segoe UI"/>
              </a:rPr>
              <a:t>Вопросы для самопроверки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373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55648"/>
            <a:ext cx="476996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F2937"/>
                </a:solidFill>
                <a:latin typeface="Segoe UI"/>
              </a:rPr>
              <a:t>Чем программный продукт отличается от программы?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7063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88920"/>
            <a:ext cx="476996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F2937"/>
                </a:solidFill>
                <a:latin typeface="Segoe UI"/>
              </a:rPr>
              <a:t>Назовите пять характеристик качества ПО по ISO 25010.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0390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822191"/>
            <a:ext cx="476996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F2937"/>
                </a:solidFill>
                <a:latin typeface="Segoe UI"/>
              </a:rPr>
              <a:t>Какие три класса ПО вы знаете? Приведите примеры.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37175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855463"/>
            <a:ext cx="476996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F2937"/>
                </a:solidFill>
                <a:latin typeface="Segoe UI"/>
              </a:rPr>
              <a:t>Что стало причиной кризиса ПО 1960-х?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17373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247" y="1755648"/>
            <a:ext cx="476996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F2937"/>
                </a:solidFill>
                <a:latin typeface="Segoe UI"/>
              </a:rPr>
              <a:t>Из каких компонентов складывается методология разработки?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277063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247" y="2788920"/>
            <a:ext cx="476996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F2937"/>
                </a:solidFill>
                <a:latin typeface="Segoe UI"/>
              </a:rPr>
              <a:t>Перечислите основные этапы разработки ПО.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380390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3822191"/>
            <a:ext cx="476996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F2937"/>
                </a:solidFill>
                <a:latin typeface="Segoe UI"/>
              </a:rPr>
              <a:t>Какие роли входят в команду разработки?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4837175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4855463"/>
            <a:ext cx="476996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F2937"/>
                </a:solidFill>
                <a:latin typeface="Segoe UI"/>
              </a:rPr>
              <a:t>Зачем нужны стандарты при разработке ПО?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МДК.02.01 · Технология разработки ПО · Лекция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94A3B8"/>
                </a:solidFill>
                <a:latin typeface="Segoe UI"/>
              </a:rPr>
              <a:t>ЛИТЕРАТУРА И РЕСУРСЫ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7223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DD4BF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E2E8F0"/>
                </a:solidFill>
                <a:latin typeface="Segoe UI"/>
              </a:rPr>
              <a:t>Рудаков А.В. Технология разработки программных продуктов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01367"/>
            <a:ext cx="7223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DD4BF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E2E8F0"/>
                </a:solidFill>
                <a:latin typeface="Segoe UI"/>
              </a:rPr>
              <a:t>Соммервилл И. Инженерия программного обеспечения — гл.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51175"/>
            <a:ext cx="7223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DD4BF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E2E8F0"/>
                </a:solidFill>
                <a:latin typeface="Segoe UI"/>
              </a:rPr>
              <a:t>ГОСТ Р ИСО/МЭК 25010-2015. Модели качества систем и ПО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377440"/>
            <a:ext cx="3566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5200" b="1" i="0">
                <a:solidFill>
                  <a:srgbClr val="FFFFFF"/>
                </a:solidFill>
                <a:latin typeface="Segoe UI"/>
              </a:rPr>
              <a:t>Вопросы?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МДК.02.01 · Лекция 1 из 8 · Введение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